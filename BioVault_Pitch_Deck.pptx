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E7DA"/>
                </a:solidFill>
                <a:latin typeface="Arial"/>
              </a:defRPr>
            </a:pPr>
            <a:r>
              <a:t>BASEDAI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5FAFC"/>
                </a:solidFill>
                <a:latin typeface="Arial"/>
              </a:defRPr>
            </a:pPr>
            <a:r>
              <a:t>BioVault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6E7DA"/>
                </a:solidFill>
                <a:latin typeface="Arial"/>
              </a:defRPr>
            </a:pPr>
            <a:r>
              <a:t>Lineage-secured memory for AI science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06324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A8C5D2"/>
                </a:solidFill>
                <a:latin typeface="Arial"/>
              </a:defRPr>
            </a:pPr>
            <a:r>
              <a:t>A deterministic permission gate for shared scientific artifact memory.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243584"/>
            <a:ext cx="2926080" cy="749808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0 model tokens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in the permission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231136"/>
            <a:ext cx="2926080" cy="749808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Lineage enforced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across transitive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3218688"/>
            <a:ext cx="2926080" cy="749808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AFC"/>
                </a:solidFill>
                <a:latin typeface="Arial"/>
              </a:defRPr>
            </a:pPr>
            <a:r>
              <a:t>Audit on every read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request_id, provenance,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5230368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8C5D2"/>
                </a:solidFill>
                <a:latin typeface="Arial"/>
              </a:defRPr>
            </a:pPr>
            <a:r>
              <a:t>Hackathon: BasedAI Enterprise Memory Governance at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5623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AFC"/>
                </a:solidFill>
                <a:latin typeface="Arial"/>
              </a:defRPr>
            </a:pPr>
            <a:r>
              <a:t>Don Aborah  @pkaysantana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AFC"/>
                </a:solidFill>
                <a:latin typeface="Arial"/>
              </a:defRPr>
            </a:pPr>
            <a:r>
              <a:t>Siloed copies break scientific memory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2529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AFC"/>
                </a:solidFill>
                <a:latin typeface="Arial"/>
              </a:defRPr>
            </a:pPr>
            <a:r>
              <a:t>AI science agents assemble derived artifacts from sensitive sources.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148840"/>
            <a:ext cx="73152" cy="7315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57400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Phase II memos, CRO handoffs, regulatory summaries, and scientific reports inherit source obligations.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07208"/>
            <a:ext cx="73152" cy="7315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1576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When a source is revoked, every artifact derived from it must quarantine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465576"/>
            <a:ext cx="73152" cy="7315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74136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External CROs must not read clinical memos they were never granted.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123944"/>
            <a:ext cx="73152" cy="7315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032504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Copying files into silos creates drift and stale permissions.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1325880"/>
            <a:ext cx="1920240" cy="621792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Sensitive source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SAR / toxicity / AE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68512" y="1472184"/>
            <a:ext cx="749808" cy="310896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55480" y="1325880"/>
            <a:ext cx="1828800" cy="621792"/>
          </a:xfrm>
          <a:prstGeom prst="rect">
            <a:avLst/>
          </a:prstGeom>
          <a:solidFill>
            <a:srgbClr val="0A2D42"/>
          </a:solidFill>
          <a:ln w="13970">
            <a:solidFill>
              <a:srgbClr val="F8B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Copied memo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permission drift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496312"/>
            <a:ext cx="1920240" cy="621792"/>
          </a:xfrm>
          <a:prstGeom prst="rect">
            <a:avLst/>
          </a:prstGeom>
          <a:solidFill>
            <a:srgbClr val="0A2D42"/>
          </a:solidFill>
          <a:ln w="13970">
            <a:solidFill>
              <a:srgbClr val="E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Revoked source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access changes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68512" y="2642616"/>
            <a:ext cx="749808" cy="310896"/>
          </a:xfrm>
          <a:prstGeom prst="rightArrow">
            <a:avLst/>
          </a:prstGeom>
          <a:solidFill>
            <a:srgbClr val="F8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5480" y="2496312"/>
            <a:ext cx="1828800" cy="621792"/>
          </a:xfrm>
          <a:prstGeom prst="rect">
            <a:avLst/>
          </a:prstGeom>
          <a:solidFill>
            <a:srgbClr val="0A2D42"/>
          </a:solidFill>
          <a:ln w="13970">
            <a:solidFill>
              <a:srgbClr val="F8B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Stale artifact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still readable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675887"/>
            <a:ext cx="1920240" cy="621792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External CRO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narrow grant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68512" y="3822191"/>
            <a:ext cx="749808" cy="310896"/>
          </a:xfrm>
          <a:prstGeom prst="rightArrow">
            <a:avLst/>
          </a:prstGeom>
          <a:solidFill>
            <a:srgbClr val="E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480" y="3675887"/>
            <a:ext cx="1828800" cy="621792"/>
          </a:xfrm>
          <a:prstGeom prst="rect">
            <a:avLst/>
          </a:prstGeom>
          <a:solidFill>
            <a:srgbClr val="0A2D42"/>
          </a:solidFill>
          <a:ln w="13970">
            <a:solidFill>
              <a:srgbClr val="E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Clinical memo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should deny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95604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66E7DA"/>
                </a:solidFill>
                <a:latin typeface="Arial"/>
              </a:defRPr>
            </a:pPr>
            <a:r>
              <a:t>The failure mode is not generation. It is uncontrolled retrieval of derived memory.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AFC"/>
                </a:solidFill>
                <a:latin typeface="Arial"/>
              </a:defRPr>
            </a:pPr>
            <a:r>
              <a:t>Governance must happen before content reaches 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2412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5FAFC"/>
                </a:solidFill>
                <a:latin typeface="Arial"/>
              </a:defRPr>
            </a:pPr>
            <a:r>
              <a:t>Access is a retrieval-layer decision, not a prompt instruction.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88920"/>
            <a:ext cx="2057400" cy="86868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Request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principal + artifact + operation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82112" y="3035808"/>
            <a:ext cx="731520" cy="32004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2670048"/>
            <a:ext cx="2240280" cy="1097280"/>
          </a:xfrm>
          <a:prstGeom prst="rect">
            <a:avLst/>
          </a:prstGeom>
          <a:solidFill>
            <a:srgbClr val="0A2D42"/>
          </a:solidFill>
          <a:ln w="13970">
            <a:solidFill>
              <a:srgbClr val="66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Permission check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SQL grants + lineage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01968" y="3035808"/>
            <a:ext cx="731520" cy="32004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71231" y="2432304"/>
            <a:ext cx="2011680" cy="749808"/>
          </a:xfrm>
          <a:prstGeom prst="rect">
            <a:avLst/>
          </a:prstGeom>
          <a:solidFill>
            <a:srgbClr val="0A2D42"/>
          </a:solidFill>
          <a:ln w="13970">
            <a:solidFill>
              <a:srgbClr val="48D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8D59D"/>
                </a:solidFill>
                <a:latin typeface="Arial"/>
              </a:defRPr>
            </a:pPr>
            <a:r>
              <a:t>ALLOW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read/query may proceed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275320" y="3346704"/>
            <a:ext cx="512064" cy="621792"/>
          </a:xfrm>
          <a:prstGeom prst="downArrow">
            <a:avLst/>
          </a:prstGeom>
          <a:solidFill>
            <a:srgbClr val="E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71231" y="4160520"/>
            <a:ext cx="2011680" cy="749808"/>
          </a:xfrm>
          <a:prstGeom prst="rect">
            <a:avLst/>
          </a:prstGeom>
          <a:solidFill>
            <a:srgbClr val="0A2D42"/>
          </a:solidFill>
          <a:ln w="13970">
            <a:solidFill>
              <a:srgbClr val="E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85858"/>
                </a:solidFill>
                <a:latin typeface="Arial"/>
              </a:defRPr>
            </a:pPr>
            <a:r>
              <a:t>DENY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no plaintext returned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3017520"/>
            <a:ext cx="1298448" cy="749808"/>
          </a:xfrm>
          <a:prstGeom prst="rect">
            <a:avLst/>
          </a:prstGeom>
          <a:solidFill>
            <a:srgbClr val="071F30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AFC"/>
                </a:solidFill>
                <a:latin typeface="Arial"/>
              </a:defRPr>
            </a:pPr>
            <a:r>
              <a:t>0 tokens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A8C5D2"/>
                </a:solidFill>
                <a:latin typeface="Arial"/>
              </a:defRPr>
            </a:pPr>
            <a:r>
              <a:t>for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3036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66E7DA"/>
                </a:solidFill>
                <a:latin typeface="Arial"/>
              </a:defRPr>
            </a:pPr>
            <a:r>
              <a:t>If the gate denies the read, the model never receives the sensitive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AFC"/>
                </a:solidFill>
                <a:latin typeface="Arial"/>
              </a:defRPr>
            </a:pPr>
            <a:r>
              <a:t>BioVault gates shared scientific artifact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70432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BioVault is a permission gate and demo dashboard. It is not an AI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84831"/>
            <a:ext cx="3063240" cy="114300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Permission gate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Bearer capability tokens bind principal, artifact, and operation.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84831"/>
            <a:ext cx="3063240" cy="114300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Lineage graph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Derived reads require grants on the target and every transitive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2084831"/>
            <a:ext cx="3063240" cy="114300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Audit trail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Each decision records request_id, provenance, and latency.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114800"/>
            <a:ext cx="9372600" cy="841248"/>
          </a:xfrm>
          <a:prstGeom prst="rect">
            <a:avLst/>
          </a:prstGeom>
          <a:solidFill>
            <a:srgbClr val="071F30"/>
          </a:solidFill>
          <a:ln w="13970">
            <a:solidFill>
              <a:srgbClr val="66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AFC"/>
                </a:solidFill>
                <a:latin typeface="Arial"/>
              </a:defRPr>
            </a:pPr>
            <a:r>
              <a:t>Deterministic access: SQL permission check, sub-millisecond local path, 0 model tokens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The model can be open-weight, closed, or absent. The permission layer stays model-free.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20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C5D2"/>
                </a:solidFill>
                <a:latin typeface="Arial"/>
              </a:defRPr>
            </a:pPr>
            <a:r>
              <a:t>Result: shared artifact memory can be queried without copying sensitive files into uncontrolled silos.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AFC"/>
                </a:solidFill>
                <a:latin typeface="Arial"/>
              </a:defRPr>
            </a:pPr>
            <a:r>
              <a:t>Every read is checked against token, grants, and lineage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1536192"/>
            <a:ext cx="420624" cy="42062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4121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2057400"/>
            <a:ext cx="2240280" cy="100584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AFC"/>
                </a:solidFill>
                <a:latin typeface="Arial"/>
              </a:defRPr>
            </a:pPr>
            <a:r>
              <a:t>Capability token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A8C5D2"/>
                </a:solidFill>
                <a:latin typeface="Arial"/>
              </a:defRPr>
            </a:pPr>
            <a:r>
              <a:t>principal, artifact, operation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81528" y="2395728"/>
            <a:ext cx="548640" cy="256032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015" y="1536192"/>
            <a:ext cx="420624" cy="42062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4121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2735" y="2057400"/>
            <a:ext cx="2240280" cy="100584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AFC"/>
                </a:solidFill>
                <a:latin typeface="Arial"/>
              </a:defRPr>
            </a:pPr>
            <a:r>
              <a:t>Target grant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A8C5D2"/>
                </a:solidFill>
                <a:latin typeface="Arial"/>
              </a:defRPr>
            </a:pPr>
            <a:r>
              <a:t>deterministic SQL check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1888" y="2395728"/>
            <a:ext cx="548640" cy="256032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1536192"/>
            <a:ext cx="420624" cy="42062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4121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3096" y="2057400"/>
            <a:ext cx="2240280" cy="100584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AFC"/>
                </a:solidFill>
                <a:latin typeface="Arial"/>
              </a:defRPr>
            </a:pPr>
            <a:r>
              <a:t>Source lineage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A8C5D2"/>
                </a:solidFill>
                <a:latin typeface="Arial"/>
              </a:defRPr>
            </a:pPr>
            <a:r>
              <a:t>all transitive parents granted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42248" y="2395728"/>
            <a:ext cx="548640" cy="256032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17736" y="1536192"/>
            <a:ext cx="420624" cy="42062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4121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63456" y="2057400"/>
            <a:ext cx="2240280" cy="100584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AFC"/>
                </a:solidFill>
                <a:latin typeface="Arial"/>
              </a:defRPr>
            </a:pPr>
            <a:r>
              <a:t>Decision + audit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A8C5D2"/>
                </a:solidFill>
                <a:latin typeface="Arial"/>
              </a:defRPr>
            </a:pPr>
            <a:r>
              <a:t>allow or deny with provenance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568" y="3913632"/>
            <a:ext cx="4389120" cy="1024128"/>
          </a:xfrm>
          <a:prstGeom prst="rect">
            <a:avLst/>
          </a:prstGeom>
          <a:solidFill>
            <a:srgbClr val="071F30"/>
          </a:solidFill>
          <a:ln w="13970">
            <a:solidFill>
              <a:srgbClr val="E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Revocation propagation</a:t>
            </a:r>
          </a:p>
          <a:p>
            <a:pPr algn="ctr">
              <a:spcBef>
                <a:spcPts val="400"/>
              </a:spcBef>
              <a:defRPr sz="1500" b="0">
                <a:solidFill>
                  <a:srgbClr val="A8C5D2"/>
                </a:solidFill>
                <a:latin typeface="Arial"/>
              </a:defRPr>
            </a:pPr>
            <a:r>
              <a:t>Revoke one source -&gt; quarantine every descendant artifact.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56832" y="3913632"/>
            <a:ext cx="4389120" cy="1024128"/>
          </a:xfrm>
          <a:prstGeom prst="rect">
            <a:avLst/>
          </a:prstGeom>
          <a:solidFill>
            <a:srgbClr val="071F30"/>
          </a:solidFill>
          <a:ln w="13970">
            <a:solidFill>
              <a:srgbClr val="66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Query-time gate</a:t>
            </a:r>
          </a:p>
          <a:p>
            <a:pPr algn="ctr">
              <a:spcBef>
                <a:spcPts val="400"/>
              </a:spcBef>
              <a:defRPr sz="1500" b="0">
                <a:solidFill>
                  <a:srgbClr val="A8C5D2"/>
                </a:solidFill>
                <a:latin typeface="Arial"/>
              </a:defRPr>
            </a:pPr>
            <a:r>
              <a:t>Denied reads return no plaintext and still write an audit event.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AFC"/>
                </a:solidFill>
                <a:latin typeface="Arial"/>
              </a:defRPr>
            </a:pPr>
            <a:r>
              <a:t>Deterministic enforcement sits between agent and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2057400" cy="96012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AI science agent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read/query request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26080" y="2157984"/>
            <a:ext cx="658368" cy="292608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94760" y="1572768"/>
            <a:ext cx="2514600" cy="1463040"/>
          </a:xfrm>
          <a:prstGeom prst="rect">
            <a:avLst/>
          </a:prstGeom>
          <a:solidFill>
            <a:srgbClr val="0A2D42"/>
          </a:solidFill>
          <a:ln w="13970">
            <a:solidFill>
              <a:srgbClr val="66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BioVault gate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A8C5D2"/>
                </a:solidFill>
                <a:latin typeface="Arial"/>
              </a:defRPr>
            </a:pPr>
            <a:r>
              <a:t>capability token</a:t>
            </a:r>
            <a:br/>
            <a:r>
              <a:t>SQL grants</a:t>
            </a:r>
            <a:br/>
            <a:r>
              <a:t>lineage traversal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92240" y="1664208"/>
            <a:ext cx="658368" cy="292608"/>
          </a:xfrm>
          <a:prstGeom prst="rightArrow">
            <a:avLst/>
          </a:prstGeom>
          <a:solidFill>
            <a:srgbClr val="48D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1325880"/>
            <a:ext cx="2788920" cy="841248"/>
          </a:xfrm>
          <a:prstGeom prst="rect">
            <a:avLst/>
          </a:prstGeom>
          <a:solidFill>
            <a:srgbClr val="0A2D42"/>
          </a:solidFill>
          <a:ln w="13970">
            <a:solidFill>
              <a:srgbClr val="48D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8D59D"/>
                </a:solidFill>
                <a:latin typeface="Arial"/>
              </a:defRPr>
            </a:pPr>
            <a:r>
              <a:t>ALLOW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plaintext may enter optional model context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92240" y="2834640"/>
            <a:ext cx="658368" cy="292608"/>
          </a:xfrm>
          <a:prstGeom prst="rightArrow">
            <a:avLst/>
          </a:prstGeom>
          <a:solidFill>
            <a:srgbClr val="E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2542032"/>
            <a:ext cx="2788920" cy="841248"/>
          </a:xfrm>
          <a:prstGeom prst="rect">
            <a:avLst/>
          </a:prstGeom>
          <a:solidFill>
            <a:srgbClr val="0A2D42"/>
          </a:solidFill>
          <a:ln w="13970">
            <a:solidFill>
              <a:srgbClr val="E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85858"/>
                </a:solidFill>
                <a:latin typeface="Arial"/>
              </a:defRPr>
            </a:pPr>
            <a:r>
              <a:t>DENY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no plaintext, audit still logs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242816"/>
            <a:ext cx="2395728" cy="749808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Artifact store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content + metadata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242816"/>
            <a:ext cx="2395728" cy="749808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Lineage DB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sources + descendants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08592" y="4242816"/>
            <a:ext cx="2011680" cy="749808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AFC"/>
                </a:solidFill>
                <a:latin typeface="Arial"/>
              </a:defRPr>
            </a:pPr>
            <a:r>
              <a:t>Audit log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A8C5D2"/>
                </a:solidFill>
                <a:latin typeface="Arial"/>
              </a:defRPr>
            </a:pPr>
            <a:r>
              <a:t>request_id +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287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66E7DA"/>
                </a:solidFill>
                <a:latin typeface="Arial"/>
              </a:defRPr>
            </a:pPr>
            <a:r>
              <a:t>Permission path: deterministic SQL, 0 model tokens, model-free enforcement.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AFC"/>
                </a:solidFill>
                <a:latin typeface="Arial"/>
              </a:defRPr>
            </a:pPr>
            <a:r>
              <a:t>BVK-14 shows access, lineage, and revoke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43000"/>
            <a:ext cx="10744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8C5D2"/>
                </a:solidFill>
                <a:latin typeface="Arial"/>
              </a:defRPr>
            </a:pPr>
            <a:r>
              <a:t>Demo programme: public target biology + internal SAR + toxicity + adverse-event memo -&gt; Phase II readiness memo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883664"/>
            <a:ext cx="329184" cy="32918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121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01368"/>
            <a:ext cx="4498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AFC"/>
                </a:solidFill>
                <a:latin typeface="Arial"/>
              </a:defRPr>
            </a:pPr>
            <a:r>
              <a:t>Nora Singh reads Phase II memo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E7DA"/>
                </a:solidFill>
                <a:latin typeface="Arial"/>
              </a:defRPr>
            </a:pPr>
            <a:r>
              <a:t>ALLOW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1883664"/>
            <a:ext cx="329184" cy="329184"/>
          </a:xfrm>
          <a:prstGeom prst="ellipse">
            <a:avLst/>
          </a:prstGeom>
          <a:solidFill>
            <a:srgbClr val="E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801368"/>
            <a:ext cx="4498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AFC"/>
                </a:solidFill>
                <a:latin typeface="Arial"/>
              </a:defRPr>
            </a:pPr>
            <a:r>
              <a:t>Owen Brooks reads Phase II memo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103120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85858"/>
                </a:solidFill>
                <a:latin typeface="Arial"/>
              </a:defRPr>
            </a:pPr>
            <a:r>
              <a:t>DENY, no plaintext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734056"/>
            <a:ext cx="329184" cy="32918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121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51760"/>
            <a:ext cx="4498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AFC"/>
                </a:solidFill>
                <a:latin typeface="Arial"/>
              </a:defRPr>
            </a:pPr>
            <a:r>
              <a:t>Inspect lineage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3512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E7DA"/>
                </a:solidFill>
                <a:latin typeface="Arial"/>
              </a:defRPr>
            </a:pPr>
            <a:r>
              <a:t>4 parents -&gt; derived memo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34056"/>
            <a:ext cx="329184" cy="32918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121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651760"/>
            <a:ext cx="4498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AFC"/>
                </a:solidFill>
                <a:latin typeface="Arial"/>
              </a:defRPr>
            </a:pPr>
            <a:r>
              <a:t>CEO revokes adverse_event_memo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953512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E7DA"/>
                </a:solidFill>
                <a:latin typeface="Arial"/>
              </a:defRPr>
            </a:pPr>
            <a:r>
              <a:t>quarantine propagates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584448"/>
            <a:ext cx="329184" cy="329184"/>
          </a:xfrm>
          <a:prstGeom prst="ellipse">
            <a:avLst/>
          </a:prstGeom>
          <a:solidFill>
            <a:srgbClr val="E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C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502152"/>
            <a:ext cx="4498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AFC"/>
                </a:solidFill>
                <a:latin typeface="Arial"/>
              </a:defRPr>
            </a:pPr>
            <a:r>
              <a:t>Read Phase II memo after revoke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80390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85858"/>
                </a:solidFill>
                <a:latin typeface="Arial"/>
              </a:defRPr>
            </a:pPr>
            <a:r>
              <a:t>DENY: derived_from_revoked_source</a:t>
            </a:r>
          </a:p>
        </p:txBody>
      </p:sp>
      <p:sp>
        <p:nvSpPr>
          <p:cNvPr id="23" name="Oval 22"/>
          <p:cNvSpPr/>
          <p:nvPr/>
        </p:nvSpPr>
        <p:spPr>
          <a:xfrm>
            <a:off x="6355080" y="3584448"/>
            <a:ext cx="329184" cy="32918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121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502152"/>
            <a:ext cx="4498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AFC"/>
                </a:solidFill>
                <a:latin typeface="Arial"/>
              </a:defRPr>
            </a:pPr>
            <a:r>
              <a:t>Audit log proves the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80390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E7DA"/>
                </a:solidFill>
                <a:latin typeface="Arial"/>
              </a:defRPr>
            </a:pPr>
            <a:r>
              <a:t>request_id, principal, provenance, latency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4434840"/>
            <a:ext cx="329184" cy="32918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121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352544"/>
            <a:ext cx="4498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AFC"/>
                </a:solidFill>
                <a:latin typeface="Arial"/>
              </a:defRPr>
            </a:pPr>
            <a:r>
              <a:t>Permission path remains deterministic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654296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E7DA"/>
                </a:solidFill>
                <a:latin typeface="Arial"/>
              </a:defRPr>
            </a:pPr>
            <a:r>
              <a:t>SQL check, 0 model tokens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9088" y="5266944"/>
            <a:ext cx="4754880" cy="502920"/>
          </a:xfrm>
          <a:prstGeom prst="rect">
            <a:avLst/>
          </a:prstGeom>
          <a:solidFill>
            <a:srgbClr val="071F30"/>
          </a:solidFill>
          <a:ln w="13970">
            <a:solidFill>
              <a:srgbClr val="66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FAFC"/>
                </a:solidFill>
                <a:latin typeface="Arial"/>
              </a:defRPr>
            </a:pPr>
            <a:r>
              <a:t>Judge-facing proof point: deny paths never reveal plaintext.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AFC"/>
                </a:solidFill>
                <a:latin typeface="Arial"/>
              </a:defRPr>
            </a:pPr>
            <a:r>
              <a:t>One revoked source quarantines the derived memo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426464"/>
            <a:ext cx="3017520" cy="530352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FAFC"/>
                </a:solidFill>
                <a:latin typeface="Arial"/>
              </a:defRPr>
            </a:pPr>
            <a:r>
              <a:t>public_target_paper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A8C5D2"/>
                </a:solidFill>
                <a:latin typeface="Arial"/>
              </a:defRPr>
            </a:pPr>
            <a:r>
              <a:t>public biology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50208" y="1591056"/>
            <a:ext cx="2395728" cy="18288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267712"/>
            <a:ext cx="3017520" cy="530352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FAFC"/>
                </a:solidFill>
                <a:latin typeface="Arial"/>
              </a:defRPr>
            </a:pPr>
            <a:r>
              <a:t>internal_sar_table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A8C5D2"/>
                </a:solidFill>
                <a:latin typeface="Arial"/>
              </a:defRPr>
            </a:pPr>
            <a:r>
              <a:t>restricted SAR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50208" y="2432304"/>
            <a:ext cx="2395728" cy="18288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3108960"/>
            <a:ext cx="3017520" cy="530352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FAFC"/>
                </a:solidFill>
                <a:latin typeface="Arial"/>
              </a:defRPr>
            </a:pPr>
            <a:r>
              <a:t>toxicity_report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A8C5D2"/>
                </a:solidFill>
                <a:latin typeface="Arial"/>
              </a:defRPr>
            </a:pPr>
            <a:r>
              <a:t>safety source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50208" y="3273552"/>
            <a:ext cx="2395728" cy="18288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3950208"/>
            <a:ext cx="3017520" cy="530352"/>
          </a:xfrm>
          <a:prstGeom prst="rect">
            <a:avLst/>
          </a:prstGeom>
          <a:solidFill>
            <a:srgbClr val="0A2D42"/>
          </a:solidFill>
          <a:ln w="13970">
            <a:solidFill>
              <a:srgbClr val="E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FAFC"/>
                </a:solidFill>
                <a:latin typeface="Arial"/>
              </a:defRPr>
            </a:pPr>
            <a:r>
              <a:t>adverse_event_memo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A8C5D2"/>
                </a:solidFill>
                <a:latin typeface="Arial"/>
              </a:defRPr>
            </a:pPr>
            <a:r>
              <a:t>revoked by CEO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50208" y="4114800"/>
            <a:ext cx="2395728" cy="182880"/>
          </a:xfrm>
          <a:prstGeom prst="rightArrow">
            <a:avLst/>
          </a:prstGeom>
          <a:solidFill>
            <a:srgbClr val="E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011680"/>
            <a:ext cx="3931920" cy="1572768"/>
          </a:xfrm>
          <a:prstGeom prst="rect">
            <a:avLst/>
          </a:prstGeom>
          <a:solidFill>
            <a:srgbClr val="0A2D42"/>
          </a:solidFill>
          <a:ln w="13970">
            <a:solidFill>
              <a:srgbClr val="E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AFC"/>
                </a:solidFill>
                <a:latin typeface="Arial"/>
              </a:defRPr>
            </a:pPr>
            <a:r>
              <a:t>phase2_readiness_memo</a:t>
            </a:r>
          </a:p>
          <a:p>
            <a:pPr algn="ctr">
              <a:spcBef>
                <a:spcPts val="400"/>
              </a:spcBef>
              <a:defRPr sz="1500" b="0">
                <a:solidFill>
                  <a:srgbClr val="E85858"/>
                </a:solidFill>
                <a:latin typeface="Arial"/>
              </a:defRPr>
            </a:pPr>
            <a:r>
              <a:t>quarantined after adverse_event_memo revoke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5212080"/>
            <a:ext cx="9966960" cy="658368"/>
          </a:xfrm>
          <a:prstGeom prst="rect">
            <a:avLst/>
          </a:prstGeom>
          <a:solidFill>
            <a:srgbClr val="071F30"/>
          </a:solidFill>
          <a:ln w="13970">
            <a:solidFill>
              <a:srgbClr val="66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AFC"/>
                </a:solidFill>
                <a:latin typeface="Arial"/>
              </a:defRPr>
            </a:pPr>
            <a:r>
              <a:t>Rule: derived reads require target grant plus grants on every transitive source.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A single revoked parent is enough to deny the descendant.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AFC"/>
                </a:solidFill>
                <a:latin typeface="Arial"/>
              </a:defRPr>
            </a:pPr>
            <a:r>
              <a:t>BioVault maps directly to the governance rubric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3886200" cy="502920"/>
          </a:xfrm>
          <a:prstGeom prst="rect">
            <a:avLst/>
          </a:prstGeom>
          <a:solidFill>
            <a:srgbClr val="00B8A9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4121F"/>
                </a:solidFill>
                <a:latin typeface="Arial"/>
              </a:defRPr>
            </a:pPr>
            <a:r>
              <a:t>BasedAI expectation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34440"/>
            <a:ext cx="6812280" cy="502920"/>
          </a:xfrm>
          <a:prstGeom prst="rect">
            <a:avLst/>
          </a:prstGeom>
          <a:solidFill>
            <a:srgbClr val="00B8A9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4121F"/>
                </a:solidFill>
                <a:latin typeface="Arial"/>
              </a:defRPr>
            </a:pPr>
            <a:r>
              <a:t>BioVault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3886200" cy="502920"/>
          </a:xfrm>
          <a:prstGeom prst="rect">
            <a:avLst/>
          </a:prstGeom>
          <a:solidFill>
            <a:srgbClr val="0A2D42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5FAFC"/>
                </a:solidFill>
                <a:latin typeface="Arial"/>
              </a:defRPr>
            </a:pPr>
            <a:r>
              <a:t>Source ACL / revocation event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737360"/>
            <a:ext cx="6812280" cy="502920"/>
          </a:xfrm>
          <a:prstGeom prst="rect">
            <a:avLst/>
          </a:prstGeom>
          <a:solidFill>
            <a:srgbClr val="0A2D42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A8C5D2"/>
                </a:solidFill>
                <a:latin typeface="Arial"/>
              </a:defRPr>
            </a:pPr>
            <a:r>
              <a:t>Simulated ACL and revoke flow for BVK-14 sources.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40280"/>
            <a:ext cx="3886200" cy="502920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5FAFC"/>
                </a:solidFill>
                <a:latin typeface="Arial"/>
              </a:defRPr>
            </a:pPr>
            <a:r>
              <a:t>Retrieval-layer enforcement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240280"/>
            <a:ext cx="6812280" cy="502920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A8C5D2"/>
                </a:solidFill>
                <a:latin typeface="Arial"/>
              </a:defRPr>
            </a:pPr>
            <a:r>
              <a:t>SQL gate runs before read/query; deny returns no plaintext.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43200"/>
            <a:ext cx="3886200" cy="502920"/>
          </a:xfrm>
          <a:prstGeom prst="rect">
            <a:avLst/>
          </a:prstGeom>
          <a:solidFill>
            <a:srgbClr val="0A2D42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5FAFC"/>
                </a:solidFill>
                <a:latin typeface="Arial"/>
              </a:defRPr>
            </a:pPr>
            <a:r>
              <a:t>No LLM permission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743200"/>
            <a:ext cx="6812280" cy="502920"/>
          </a:xfrm>
          <a:prstGeom prst="rect">
            <a:avLst/>
          </a:prstGeom>
          <a:solidFill>
            <a:srgbClr val="0A2D42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A8C5D2"/>
                </a:solidFill>
                <a:latin typeface="Arial"/>
              </a:defRPr>
            </a:pPr>
            <a:r>
              <a:t>0 model tokens; permission layer is model-free.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46120"/>
            <a:ext cx="3886200" cy="502920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5FAFC"/>
                </a:solidFill>
                <a:latin typeface="Arial"/>
              </a:defRPr>
            </a:pPr>
            <a:r>
              <a:t>Structured audit logs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246120"/>
            <a:ext cx="6812280" cy="502920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A8C5D2"/>
                </a:solidFill>
                <a:latin typeface="Arial"/>
              </a:defRPr>
            </a:pPr>
            <a:r>
              <a:t>request_id, principal, provenance, decision, latency.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749040"/>
            <a:ext cx="3886200" cy="502920"/>
          </a:xfrm>
          <a:prstGeom prst="rect">
            <a:avLst/>
          </a:prstGeom>
          <a:solidFill>
            <a:srgbClr val="0A2D42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5FAFC"/>
                </a:solidFill>
                <a:latin typeface="Arial"/>
              </a:defRPr>
            </a:pPr>
            <a:r>
              <a:t>Performance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749040"/>
            <a:ext cx="6812280" cy="502920"/>
          </a:xfrm>
          <a:prstGeom prst="rect">
            <a:avLst/>
          </a:prstGeom>
          <a:solidFill>
            <a:srgbClr val="0A2D42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A8C5D2"/>
                </a:solidFill>
                <a:latin typeface="Arial"/>
              </a:defRPr>
            </a:pPr>
            <a:r>
              <a:t>P99 &lt; 200ms local permission benchmark.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251960"/>
            <a:ext cx="3886200" cy="502920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5FAFC"/>
                </a:solidFill>
                <a:latin typeface="Arial"/>
              </a:defRPr>
            </a:pPr>
            <a:r>
              <a:t>Derived memory lineage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251960"/>
            <a:ext cx="6812280" cy="502920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A8C5D2"/>
                </a:solidFill>
                <a:latin typeface="Arial"/>
              </a:defRPr>
            </a:pPr>
            <a:r>
              <a:t>Transitive source grants required for derived artifacts.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754880"/>
            <a:ext cx="3886200" cy="502920"/>
          </a:xfrm>
          <a:prstGeom prst="rect">
            <a:avLst/>
          </a:prstGeom>
          <a:solidFill>
            <a:srgbClr val="0A2D42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5FAFC"/>
                </a:solidFill>
                <a:latin typeface="Arial"/>
              </a:defRPr>
            </a:pPr>
            <a:r>
              <a:t>Revocation propagation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4754880"/>
            <a:ext cx="6812280" cy="502920"/>
          </a:xfrm>
          <a:prstGeom prst="rect">
            <a:avLst/>
          </a:prstGeom>
          <a:solidFill>
            <a:srgbClr val="0A2D42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A8C5D2"/>
                </a:solidFill>
                <a:latin typeface="Arial"/>
              </a:defRPr>
            </a:pPr>
            <a:r>
              <a:t>Revoked source quarantines descendants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257800"/>
            <a:ext cx="3886200" cy="502920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5FAFC"/>
                </a:solidFill>
                <a:latin typeface="Arial"/>
              </a:defRPr>
            </a:pPr>
            <a:r>
              <a:t>Open-weight compatible bonuses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5257800"/>
            <a:ext cx="6812280" cy="502920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A8C5D2"/>
                </a:solidFill>
                <a:latin typeface="Arial"/>
              </a:defRPr>
            </a:pPr>
            <a:r>
              <a:t>Temporal grant expiry and query-time gate support.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715000"/>
            <a:ext cx="10469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6E7DA"/>
                </a:solidFill>
                <a:latin typeface="Arial"/>
              </a:defRPr>
            </a:pPr>
            <a:r>
              <a:t>The prototype demonstrates the governance path without claiming production IAM sync or production security.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AFC"/>
                </a:solidFill>
                <a:latin typeface="Arial"/>
              </a:defRPr>
            </a:pPr>
            <a:r>
              <a:t>Scientific memory needs reproducible access 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874519"/>
            <a:ext cx="2971800" cy="1389888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Safer collaboration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External CROs see only artifacts and sources they are granted.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1874519"/>
            <a:ext cx="2971800" cy="1389888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Auditable decisions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Every allow and deny is reconstructable from request_id and provenance.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47888" y="1874519"/>
            <a:ext cx="2971800" cy="1389888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AFC"/>
                </a:solidFill>
                <a:latin typeface="Arial"/>
              </a:defRPr>
            </a:pPr>
            <a:r>
              <a:t>Model-agnostic control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Open-weight agents can use the same gate because enforcement is outside the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4334256"/>
            <a:ext cx="9646920" cy="868680"/>
          </a:xfrm>
          <a:prstGeom prst="rect">
            <a:avLst/>
          </a:prstGeom>
          <a:solidFill>
            <a:srgbClr val="071F30"/>
          </a:solidFill>
          <a:ln w="13970">
            <a:solidFill>
              <a:srgbClr val="66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AFC"/>
                </a:solidFill>
                <a:latin typeface="Arial"/>
              </a:defRPr>
            </a:pPr>
            <a:r>
              <a:t>The product boundary is clear: BioVault governs memory access before science content reaches an agent.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That makes revocation, lineage, and audit independent of prompt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AFC"/>
                </a:solidFill>
                <a:latin typeface="Arial"/>
              </a:defRPr>
            </a:pPr>
            <a:r>
              <a:t>This prototype is intentionally scoped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52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5FAFC"/>
                </a:solidFill>
                <a:latin typeface="Arial"/>
              </a:defRPr>
            </a:pPr>
            <a:r>
              <a:t>BioVault demonstrates the governance mechanism. It does not claim production security or clinical readiness.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65960"/>
            <a:ext cx="73152" cy="73152"/>
          </a:xfrm>
          <a:prstGeom prst="rect">
            <a:avLst/>
          </a:prstGeom>
          <a:solidFill>
            <a:srgbClr val="F8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74519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Educational prototype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65960"/>
            <a:ext cx="73152" cy="73152"/>
          </a:xfrm>
          <a:prstGeom prst="rect">
            <a:avLst/>
          </a:prstGeom>
          <a:solidFill>
            <a:srgbClr val="F8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874519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Not production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679192"/>
            <a:ext cx="73152" cy="73152"/>
          </a:xfrm>
          <a:prstGeom prst="rect">
            <a:avLst/>
          </a:prstGeom>
          <a:solidFill>
            <a:srgbClr val="F8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587752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Not clinical decision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679192"/>
            <a:ext cx="73152" cy="73152"/>
          </a:xfrm>
          <a:prstGeom prst="rect">
            <a:avLst/>
          </a:prstGeom>
          <a:solidFill>
            <a:srgbClr val="F8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587752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Local and ephemeral SQLite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392424"/>
            <a:ext cx="73152" cy="7315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00984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Simulated ACL and revocation event, not full external connector sync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392424"/>
            <a:ext cx="73152" cy="7315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3300984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Not full Hirebase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105655"/>
            <a:ext cx="73152" cy="7315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014215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No production KMS/HSM yet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105655"/>
            <a:ext cx="73152" cy="7315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4014215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8C5D2"/>
                </a:solidFill>
                <a:latin typeface="Arial"/>
              </a:defRPr>
            </a:pPr>
            <a:r>
              <a:t>No tamper-evident audit ledger yet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5285232"/>
            <a:ext cx="9738360" cy="502920"/>
          </a:xfrm>
          <a:prstGeom prst="rect">
            <a:avLst/>
          </a:prstGeom>
          <a:solidFill>
            <a:srgbClr val="071F30"/>
          </a:solidFill>
          <a:ln w="13970">
            <a:solidFill>
              <a:srgbClr val="40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FAFC"/>
                </a:solidFill>
                <a:latin typeface="Arial"/>
              </a:defRPr>
            </a:pPr>
            <a:r>
              <a:t>Next production steps: real connector sync, hardened key management, durable audit integrity, and deployment controls.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" y="0"/>
            <a:ext cx="12072823" cy="36576"/>
          </a:xfrm>
          <a:prstGeom prst="rect">
            <a:avLst/>
          </a:prstGeom>
          <a:solidFill>
            <a:srgbClr val="0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597A6"/>
                </a:solidFill>
                <a:latin typeface="Arial"/>
              </a:defRPr>
            </a:pPr>
            <a:r>
              <a:t>BioVault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AFC"/>
                </a:solidFill>
                <a:latin typeface="Arial"/>
              </a:defRPr>
            </a:pPr>
            <a:r>
              <a:t>Govern scientific memory before the model reads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1732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6E7DA"/>
                </a:solidFill>
                <a:latin typeface="Arial"/>
              </a:defRPr>
            </a:pPr>
            <a:r>
              <a:t>BioVault is lineage-secured memory for AI science agents.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514600"/>
            <a:ext cx="3063240" cy="100584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F5FAFC"/>
                </a:solidFill>
                <a:latin typeface="Arial"/>
              </a:defRPr>
            </a:pPr>
            <a:r>
              <a:t>Review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the deterministic permission 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514600"/>
            <a:ext cx="3063240" cy="100584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F5FAFC"/>
                </a:solidFill>
                <a:latin typeface="Arial"/>
              </a:defRPr>
            </a:pPr>
            <a:r>
              <a:t>Run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the BVK-14 revoke 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514600"/>
            <a:ext cx="3063240" cy="1005840"/>
          </a:xfrm>
          <a:prstGeom prst="rect">
            <a:avLst/>
          </a:prstGeom>
          <a:solidFill>
            <a:srgbClr val="0A2D42"/>
          </a:solidFill>
          <a:ln w="1397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F5FAFC"/>
                </a:solidFill>
                <a:latin typeface="Arial"/>
              </a:defRPr>
            </a:pPr>
            <a:r>
              <a:t>Evaluate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A8C5D2"/>
                </a:solidFill>
                <a:latin typeface="Arial"/>
              </a:defRPr>
            </a:pPr>
            <a:r>
              <a:t>model-free memory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46227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AFC"/>
                </a:solidFill>
                <a:latin typeface="Arial"/>
              </a:defRPr>
            </a:pPr>
            <a:r>
              <a:t>Repo: github.com/pkaysantana/BioVault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882896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C5D2"/>
                </a:solidFill>
                <a:latin typeface="Arial"/>
              </a:defRPr>
            </a:pPr>
            <a:r>
              <a:t>Demo: [local/deploy URL TBD]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5532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E7DA"/>
                </a:solidFill>
                <a:latin typeface="Arial"/>
              </a:defRPr>
            </a:pPr>
            <a:r>
              <a:t>Don Aborah  @pkaysantana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BioVault Pitch Deck</dc:title>
  <dc:subject>Lineage-secured memory for AI science agents</dc:subject>
  <dc:creator>Don Aborah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